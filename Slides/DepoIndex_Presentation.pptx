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0"/>
            <a:ext cx="5150815" cy="685800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DOCU3C TECHNICAL ASSESSMENT  ·  PROBLEM #3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DepoIndex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Deposition Topic Index &amp; Analysis Engine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RAG-based pipeline that converts lengthy legal deposition transcripts into a chronological, structured, and source-verifiable topic index.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8" name="Image 0" descr="/home/claude/depoindex_ppt/icons/dm_live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803904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3730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39867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docu3c-depo-index-engine-bjzced7zrqycdzwnlu3hec.streamlit.app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Anurag Thakur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992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502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0" y="1051560"/>
            <a:ext cx="42976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498080" y="1216152"/>
            <a:ext cx="512064" cy="512064"/>
          </a:xfrm>
          <a:prstGeom prst="ellipse">
            <a:avLst/>
          </a:prstGeom>
          <a:solidFill>
            <a:srgbClr val="EAECF6"/>
          </a:solidFill>
          <a:ln/>
        </p:spPr>
      </p:sp>
      <p:pic>
        <p:nvPicPr>
          <p:cNvPr id="16" name="Image 1" descr="/home/claude/depoindex_ppt/icons/hl_lo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524" y="1321308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183880" y="105156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processing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315200" y="2075688"/>
            <a:ext cx="42976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498080" y="2240280"/>
            <a:ext cx="512064" cy="512064"/>
          </a:xfrm>
          <a:prstGeom prst="ellipse">
            <a:avLst/>
          </a:prstGeom>
          <a:solidFill>
            <a:srgbClr val="EAECF6"/>
          </a:solidFill>
          <a:ln/>
        </p:spPr>
      </p:sp>
      <p:pic>
        <p:nvPicPr>
          <p:cNvPr id="20" name="Image 2" descr="/home/claude/depoindex_ppt/icons/hl_vec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524" y="2345436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83880" y="2075688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indexing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315200" y="3099816"/>
            <a:ext cx="42976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98080" y="3264408"/>
            <a:ext cx="512064" cy="512064"/>
          </a:xfrm>
          <a:prstGeom prst="ellipse">
            <a:avLst/>
          </a:prstGeom>
          <a:solidFill>
            <a:srgbClr val="EAECF6"/>
          </a:solidFill>
          <a:ln/>
        </p:spPr>
      </p:sp>
      <p:pic>
        <p:nvPicPr>
          <p:cNvPr id="24" name="Image 3" descr="/home/claude/depoindex_ppt/icons/hl_chron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524" y="3369564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183880" y="3099816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topic segmentation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7315200" y="4123944"/>
            <a:ext cx="42976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498080" y="4288536"/>
            <a:ext cx="512064" cy="512064"/>
          </a:xfrm>
          <a:prstGeom prst="ellipse">
            <a:avLst/>
          </a:prstGeom>
          <a:solidFill>
            <a:srgbClr val="EAECF6"/>
          </a:solidFill>
          <a:ln/>
        </p:spPr>
      </p:sp>
      <p:pic>
        <p:nvPicPr>
          <p:cNvPr id="28" name="Image 4" descr="/home/claude/depoindex_ppt/icons/hl_proven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1524" y="4393692"/>
            <a:ext cx="301752" cy="30175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183880" y="4123944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Page/line-level provenance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7315200" y="5148072"/>
            <a:ext cx="42976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498080" y="5312664"/>
            <a:ext cx="512064" cy="512064"/>
          </a:xfrm>
          <a:prstGeom prst="ellipse">
            <a:avLst/>
          </a:prstGeom>
          <a:solidFill>
            <a:srgbClr val="EAECF6"/>
          </a:solidFill>
          <a:ln/>
        </p:spPr>
      </p:sp>
      <p:pic>
        <p:nvPicPr>
          <p:cNvPr id="32" name="Image 5" descr="/home/claude/depoindex_ppt/icons/hl_valida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1524" y="5417820"/>
            <a:ext cx="301752" cy="30175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183880" y="5148072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 &amp; stability testing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DepoIndex — Docu3C Technical Assessment, Problem #3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Deposition to Actionable Topic Index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703320" cy="4160520"/>
          </a:xfrm>
          <a:prstGeom prst="roundRect">
            <a:avLst>
              <a:gd name="adj" fmla="val 2469"/>
            </a:avLst>
          </a:prstGeom>
          <a:solidFill>
            <a:srgbClr val="F5F8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deposition transcripts are: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420624" cy="420624"/>
          </a:xfrm>
          <a:prstGeom prst="ellipse">
            <a:avLst/>
          </a:prstGeom>
          <a:solidFill>
            <a:srgbClr val="F3E1DB"/>
          </a:solidFill>
          <a:ln/>
        </p:spPr>
      </p:sp>
      <p:pic>
        <p:nvPicPr>
          <p:cNvPr id="8" name="Image 0" descr="/home/claude/depoindex_ppt/icons/pr_l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386584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89888" y="2231136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and difficult to navigate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3127248"/>
            <a:ext cx="420624" cy="420624"/>
          </a:xfrm>
          <a:prstGeom prst="ellipse">
            <a:avLst/>
          </a:prstGeom>
          <a:solidFill>
            <a:srgbClr val="F3E1DB"/>
          </a:solidFill>
          <a:ln/>
        </p:spPr>
      </p:sp>
      <p:pic>
        <p:nvPicPr>
          <p:cNvPr id="11" name="Image 1" descr="/home/claude/depoindex_ppt/icons/pr_or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2278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89888" y="3072384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by testimony order, not topic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" y="3968496"/>
            <a:ext cx="420624" cy="420624"/>
          </a:xfrm>
          <a:prstGeom prst="ellipse">
            <a:avLst/>
          </a:prstGeom>
          <a:solidFill>
            <a:srgbClr val="F3E1DB"/>
          </a:solidFill>
          <a:ln/>
        </p:spPr>
      </p:sp>
      <p:pic>
        <p:nvPicPr>
          <p:cNvPr id="14" name="Image 2" descr="/home/claude/depoindex_ppt/icons/pr_t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06908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89888" y="3913632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to manually index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22960" y="4809744"/>
            <a:ext cx="420624" cy="420624"/>
          </a:xfrm>
          <a:prstGeom prst="ellipse">
            <a:avLst/>
          </a:prstGeom>
          <a:solidFill>
            <a:srgbClr val="F3E1DB"/>
          </a:solidFill>
          <a:ln/>
        </p:spPr>
      </p:sp>
      <p:pic>
        <p:nvPicPr>
          <p:cNvPr id="17" name="Image 3" descr="/home/claude/depoindex_ppt/icons/pr_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910328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89888" y="4754880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search while preserving exact source references</a:t>
            </a:r>
            <a:endParaRPr lang="en-US" sz="1150" dirty="0"/>
          </a:p>
        </p:txBody>
      </p:sp>
      <p:sp>
        <p:nvSpPr>
          <p:cNvPr id="19" name="Text 13"/>
          <p:cNvSpPr txBox="1"/>
          <p:nvPr/>
        </p:nvSpPr>
        <p:spPr>
          <a:xfrm>
            <a:off x="452628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4526280" y="1700784"/>
            <a:ext cx="7086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DepoIndex automatically transforms the transcript into a chronological topic index while preserving source provenance.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526280" y="2359152"/>
            <a:ext cx="7086600" cy="324612"/>
          </a:xfrm>
          <a:prstGeom prst="roundRect">
            <a:avLst>
              <a:gd name="adj" fmla="val 16901"/>
            </a:avLst>
          </a:prstGeom>
          <a:solidFill>
            <a:srgbClr val="E4F0F3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636008" y="238429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4" descr="/home/claude/depoindex_ppt/icons/fl_ra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2448306"/>
            <a:ext cx="146304" cy="14630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056632" y="2359152"/>
            <a:ext cx="59893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Deposition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11155680" y="2359152"/>
            <a:ext cx="365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526280" y="2756916"/>
            <a:ext cx="7086600" cy="324612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636008" y="2782062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5" descr="/home/claude/depoindex_ppt/icons/fl_extrac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016" y="2846070"/>
            <a:ext cx="146304" cy="14630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056632" y="2756916"/>
            <a:ext cx="59893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Page/Line Extraction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11155680" y="2756916"/>
            <a:ext cx="365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4526280" y="3154680"/>
            <a:ext cx="7086600" cy="324612"/>
          </a:xfrm>
          <a:prstGeom prst="roundRect">
            <a:avLst>
              <a:gd name="adj" fmla="val 16901"/>
            </a:avLst>
          </a:prstGeom>
          <a:solidFill>
            <a:srgbClr val="E4F0F3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4636008" y="317982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6" descr="/home/claude/depoindex_ppt/icons/fl_chun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3243834"/>
            <a:ext cx="146304" cy="14630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056632" y="3154680"/>
            <a:ext cx="59893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11155680" y="3154680"/>
            <a:ext cx="365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4526280" y="3552444"/>
            <a:ext cx="7086600" cy="324612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4636008" y="357759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8" name="Image 7" descr="/home/claude/depoindex_ppt/icons/fl_vecto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016" y="3641598"/>
            <a:ext cx="146304" cy="14630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5056632" y="3552444"/>
            <a:ext cx="59893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Indexing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11155680" y="3552444"/>
            <a:ext cx="365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4526280" y="3950208"/>
            <a:ext cx="7086600" cy="324612"/>
          </a:xfrm>
          <a:prstGeom prst="roundRect">
            <a:avLst>
              <a:gd name="adj" fmla="val 16901"/>
            </a:avLst>
          </a:prstGeom>
          <a:solidFill>
            <a:srgbClr val="E4F0F3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4636008" y="397535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3" name="Image 8" descr="/home/claude/depoindex_ppt/icons/fl_segme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0016" y="4039362"/>
            <a:ext cx="146304" cy="146304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5056632" y="3950208"/>
            <a:ext cx="59893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Segmentation</a:t>
            </a:r>
            <a:endParaRPr lang="en-US" sz="1200" dirty="0"/>
          </a:p>
        </p:txBody>
      </p:sp>
      <p:sp>
        <p:nvSpPr>
          <p:cNvPr id="45" name="Text 34"/>
          <p:cNvSpPr txBox="1"/>
          <p:nvPr/>
        </p:nvSpPr>
        <p:spPr>
          <a:xfrm>
            <a:off x="11155680" y="3950208"/>
            <a:ext cx="365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Shape 35"/>
          <p:cNvSpPr/>
          <p:nvPr/>
        </p:nvSpPr>
        <p:spPr>
          <a:xfrm>
            <a:off x="4526280" y="4347972"/>
            <a:ext cx="7086600" cy="324612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4636008" y="437311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8" name="Image 9" descr="/home/claude/depoindex_ppt/icons/fl_index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0016" y="4437126"/>
            <a:ext cx="146304" cy="146304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5056632" y="4347972"/>
            <a:ext cx="59893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Topic Index</a:t>
            </a:r>
            <a:endParaRPr lang="en-US" sz="1200" dirty="0"/>
          </a:p>
        </p:txBody>
      </p:sp>
      <p:sp>
        <p:nvSpPr>
          <p:cNvPr id="50" name="Text 38"/>
          <p:cNvSpPr txBox="1"/>
          <p:nvPr/>
        </p:nvSpPr>
        <p:spPr>
          <a:xfrm>
            <a:off x="11155680" y="4347972"/>
            <a:ext cx="365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1" name="Shape 39"/>
          <p:cNvSpPr/>
          <p:nvPr/>
        </p:nvSpPr>
        <p:spPr>
          <a:xfrm>
            <a:off x="4526280" y="4745736"/>
            <a:ext cx="7086600" cy="324612"/>
          </a:xfrm>
          <a:prstGeom prst="roundRect">
            <a:avLst>
              <a:gd name="adj" fmla="val 16901"/>
            </a:avLst>
          </a:prstGeom>
          <a:solidFill>
            <a:srgbClr val="E4F0F3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52" name="Shape 40"/>
          <p:cNvSpPr/>
          <p:nvPr/>
        </p:nvSpPr>
        <p:spPr>
          <a:xfrm>
            <a:off x="4636008" y="4770882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3" name="Image 10" descr="/home/claude/depoindex_ppt/icons/fl_expor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0016" y="4834890"/>
            <a:ext cx="146304" cy="146304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5056632" y="4745736"/>
            <a:ext cx="59893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Markdown + Validation</a:t>
            </a:r>
            <a:endParaRPr lang="en-US" sz="1200" dirty="0"/>
          </a:p>
        </p:txBody>
      </p:sp>
      <p:sp>
        <p:nvSpPr>
          <p:cNvPr id="55" name="Text 42"/>
          <p:cNvSpPr txBox="1"/>
          <p:nvPr/>
        </p:nvSpPr>
        <p:spPr>
          <a:xfrm>
            <a:off x="11155680" y="4745736"/>
            <a:ext cx="365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6" name="Shape 43"/>
          <p:cNvSpPr/>
          <p:nvPr/>
        </p:nvSpPr>
        <p:spPr>
          <a:xfrm>
            <a:off x="4526280" y="5253228"/>
            <a:ext cx="7086600" cy="566928"/>
          </a:xfrm>
          <a:prstGeom prst="roundRect">
            <a:avLst>
              <a:gd name="adj" fmla="val 12903"/>
            </a:avLst>
          </a:prstGeom>
          <a:solidFill>
            <a:srgbClr val="EAECF6"/>
          </a:solidFill>
          <a:ln/>
        </p:spPr>
      </p:sp>
      <p:pic>
        <p:nvPicPr>
          <p:cNvPr id="57" name="Image 11" descr="/home/claude/depoindex_ppt/icons/principl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0016" y="5399532"/>
            <a:ext cx="274320" cy="274320"/>
          </a:xfrm>
          <a:prstGeom prst="rect">
            <a:avLst/>
          </a:prstGeom>
        </p:spPr>
      </p:pic>
      <p:sp>
        <p:nvSpPr>
          <p:cNvPr id="58" name="Text 44"/>
          <p:cNvSpPr txBox="1"/>
          <p:nvPr/>
        </p:nvSpPr>
        <p:spPr>
          <a:xfrm>
            <a:off x="5102352" y="525322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Design Principle:  </a:t>
            </a:r>
            <a:pPr indent="0" marL="0">
              <a:buNone/>
            </a:pPr>
            <a:r>
              <a:rPr lang="en-US" sz="1200" i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indexed topic should remain traceable to its original testimony.</a:t>
            </a:r>
            <a:endParaRPr lang="en-US" sz="1200" dirty="0"/>
          </a:p>
        </p:txBody>
      </p:sp>
      <p:sp>
        <p:nvSpPr>
          <p:cNvPr id="59" name="Text 4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DepoIndex — Docu3C Technical Assessment, Problem #3</a:t>
            </a:r>
            <a:endParaRPr lang="en-US" sz="900" dirty="0"/>
          </a:p>
        </p:txBody>
      </p:sp>
      <p:sp>
        <p:nvSpPr>
          <p:cNvPr id="60" name="Text 46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RAG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481328"/>
            <a:ext cx="47091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59105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poindex_ppt/icons/arch_par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282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57276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187452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extraction + provenance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 rot="10800000">
            <a:off x="3095244" y="2244852"/>
            <a:ext cx="164592" cy="118872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2377440"/>
            <a:ext cx="47091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05840" y="248716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depoindex_ppt/icons/arch_index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6243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91640" y="246888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1691640" y="277063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+ embeddings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 rot="10800000">
            <a:off x="3095244" y="3140964"/>
            <a:ext cx="164592" cy="118872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3273552"/>
            <a:ext cx="47091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05840" y="33832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depoindex_ppt/icons/arch_chrom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2044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91640" y="336499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1691640" y="366674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storage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 rot="10800000">
            <a:off x="3095244" y="4037076"/>
            <a:ext cx="164592" cy="118872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22" name="Shape 17"/>
          <p:cNvSpPr/>
          <p:nvPr/>
        </p:nvSpPr>
        <p:spPr>
          <a:xfrm>
            <a:off x="822960" y="4169664"/>
            <a:ext cx="47091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5840" y="427939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depoindex_ppt/icons/arch_segmen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416552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91640" y="42611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Segmenter</a:t>
            </a:r>
            <a:endParaRPr lang="en-US" sz="1450" dirty="0"/>
          </a:p>
        </p:txBody>
      </p:sp>
      <p:sp>
        <p:nvSpPr>
          <p:cNvPr id="26" name="Text 20"/>
          <p:cNvSpPr txBox="1"/>
          <p:nvPr/>
        </p:nvSpPr>
        <p:spPr>
          <a:xfrm>
            <a:off x="1691640" y="456285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boundary detection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 rot="10800000">
            <a:off x="3095244" y="4933188"/>
            <a:ext cx="164592" cy="118872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28" name="Shape 22"/>
          <p:cNvSpPr/>
          <p:nvPr/>
        </p:nvSpPr>
        <p:spPr>
          <a:xfrm>
            <a:off x="822960" y="5065776"/>
            <a:ext cx="47091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05840" y="5175504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/home/claude/depoindex_ppt/icons/arch_expor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5312664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691640" y="515721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</a:t>
            </a:r>
            <a:endParaRPr lang="en-US" sz="1450" dirty="0"/>
          </a:p>
        </p:txBody>
      </p:sp>
      <p:sp>
        <p:nvSpPr>
          <p:cNvPr id="32" name="Text 25"/>
          <p:cNvSpPr txBox="1"/>
          <p:nvPr/>
        </p:nvSpPr>
        <p:spPr>
          <a:xfrm>
            <a:off x="1691640" y="545896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Markdown outputs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5806440" y="14813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5806440" y="1810512"/>
            <a:ext cx="1170432" cy="347472"/>
          </a:xfrm>
          <a:prstGeom prst="roundRect">
            <a:avLst>
              <a:gd name="adj" fmla="val 50000"/>
            </a:avLst>
          </a:prstGeom>
          <a:solidFill>
            <a:srgbClr val="E4F0F3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5806440" y="181051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3.12+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7104888" y="1810512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E4F0F3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7104888" y="181051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7946136" y="1810512"/>
            <a:ext cx="1874520" cy="347472"/>
          </a:xfrm>
          <a:prstGeom prst="roundRect">
            <a:avLst>
              <a:gd name="adj" fmla="val 50000"/>
            </a:avLst>
          </a:prstGeom>
          <a:solidFill>
            <a:srgbClr val="E4F0F3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7946136" y="18105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9948672" y="1810512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E4F0F3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9948672" y="18105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5806440" y="2231136"/>
            <a:ext cx="1170432" cy="347472"/>
          </a:xfrm>
          <a:prstGeom prst="roundRect">
            <a:avLst>
              <a:gd name="adj" fmla="val 50000"/>
            </a:avLst>
          </a:prstGeom>
          <a:solidFill>
            <a:srgbClr val="E4F0F3"/>
          </a:solidFill>
          <a:ln/>
        </p:spPr>
      </p:sp>
      <p:sp>
        <p:nvSpPr>
          <p:cNvPr id="43" name="Text 36"/>
          <p:cNvSpPr txBox="1"/>
          <p:nvPr/>
        </p:nvSpPr>
        <p:spPr>
          <a:xfrm>
            <a:off x="5806440" y="223113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5806440" y="2724912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6035040" y="272491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350" dirty="0"/>
          </a:p>
        </p:txBody>
      </p:sp>
      <p:sp>
        <p:nvSpPr>
          <p:cNvPr id="46" name="Text 39"/>
          <p:cNvSpPr txBox="1"/>
          <p:nvPr/>
        </p:nvSpPr>
        <p:spPr>
          <a:xfrm>
            <a:off x="5806440" y="354787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LOCAL?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5806440" y="3895344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5F8FA"/>
          </a:solidFill>
          <a:ln/>
        </p:spPr>
      </p:sp>
      <p:sp>
        <p:nvSpPr>
          <p:cNvPr id="48" name="Shape 41"/>
          <p:cNvSpPr/>
          <p:nvPr/>
        </p:nvSpPr>
        <p:spPr>
          <a:xfrm>
            <a:off x="5952744" y="404164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9" name="Image 5" descr="/home/claude/depoindex_ppt/icons/wl_nokey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328" y="4142232"/>
            <a:ext cx="219456" cy="219456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5952744" y="442569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API keys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8823960" y="3895344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5F8FA"/>
          </a:solidFill>
          <a:ln/>
        </p:spPr>
      </p:sp>
      <p:sp>
        <p:nvSpPr>
          <p:cNvPr id="52" name="Shape 44"/>
          <p:cNvSpPr/>
          <p:nvPr/>
        </p:nvSpPr>
        <p:spPr>
          <a:xfrm>
            <a:off x="8970264" y="404164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3" name="Image 6" descr="/home/claude/depoindex_ppt/icons/wl_noclou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0848" y="4142232"/>
            <a:ext cx="219456" cy="219456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8970264" y="442569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cloud dependency</a:t>
            </a:r>
            <a:endParaRPr lang="en-US" sz="1100" dirty="0"/>
          </a:p>
        </p:txBody>
      </p:sp>
      <p:sp>
        <p:nvSpPr>
          <p:cNvPr id="55" name="Shape 46"/>
          <p:cNvSpPr/>
          <p:nvPr/>
        </p:nvSpPr>
        <p:spPr>
          <a:xfrm>
            <a:off x="5806440" y="4901184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5F8FA"/>
          </a:solidFill>
          <a:ln/>
        </p:spPr>
      </p:sp>
      <p:sp>
        <p:nvSpPr>
          <p:cNvPr id="56" name="Shape 47"/>
          <p:cNvSpPr/>
          <p:nvPr/>
        </p:nvSpPr>
        <p:spPr>
          <a:xfrm>
            <a:off x="5952744" y="504748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7" name="Image 7" descr="/home/claude/depoindex_ppt/icons/wl_sensitiv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3328" y="5148072"/>
            <a:ext cx="219456" cy="219456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5952744" y="543153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documents remain locally processed</a:t>
            </a:r>
            <a:endParaRPr lang="en-US" sz="1100" dirty="0"/>
          </a:p>
        </p:txBody>
      </p:sp>
      <p:sp>
        <p:nvSpPr>
          <p:cNvPr id="59" name="Shape 49"/>
          <p:cNvSpPr/>
          <p:nvPr/>
        </p:nvSpPr>
        <p:spPr>
          <a:xfrm>
            <a:off x="8823960" y="4901184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5F8FA"/>
          </a:solidFill>
          <a:ln/>
        </p:spPr>
      </p:sp>
      <p:sp>
        <p:nvSpPr>
          <p:cNvPr id="60" name="Shape 50"/>
          <p:cNvSpPr/>
          <p:nvPr/>
        </p:nvSpPr>
        <p:spPr>
          <a:xfrm>
            <a:off x="8970264" y="504748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1" name="Image 8" descr="/home/claude/depoindex_ppt/icons/wl_reproducib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0848" y="5148072"/>
            <a:ext cx="219456" cy="219456"/>
          </a:xfrm>
          <a:prstGeom prst="rect">
            <a:avLst/>
          </a:prstGeom>
        </p:spPr>
      </p:pic>
      <p:sp>
        <p:nvSpPr>
          <p:cNvPr id="62" name="Text 51"/>
          <p:cNvSpPr txBox="1"/>
          <p:nvPr/>
        </p:nvSpPr>
        <p:spPr>
          <a:xfrm>
            <a:off x="8970264" y="543153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pipeline</a:t>
            </a:r>
            <a:endParaRPr lang="en-US" sz="1100" dirty="0"/>
          </a:p>
        </p:txBody>
      </p:sp>
      <p:sp>
        <p:nvSpPr>
          <p:cNvPr id="63" name="Text 5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DepoIndex — Docu3C Technical Assessment, Problem #3</a:t>
            </a:r>
            <a:endParaRPr lang="en-US" sz="900" dirty="0"/>
          </a:p>
        </p:txBody>
      </p:sp>
      <p:sp>
        <p:nvSpPr>
          <p:cNvPr id="64" name="Text 53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INDEX + 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Accuracy, Provenance &amp; Stability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Segmentation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system detects meaningful changes in subject matter while preserving chronological order. Each topic carries: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2081174" cy="713232"/>
          </a:xfrm>
          <a:prstGeom prst="roundRect">
            <a:avLst>
              <a:gd name="adj" fmla="val 10256"/>
            </a:avLst>
          </a:prstGeom>
          <a:solidFill>
            <a:srgbClr val="EAECF6"/>
          </a:solidFill>
          <a:ln/>
        </p:spPr>
      </p:sp>
      <p:pic>
        <p:nvPicPr>
          <p:cNvPr id="6" name="Image 0" descr="/home/claude/depoindex_ppt/icons/tf_top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2067" y="1755648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048256"/>
            <a:ext cx="19714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94406" y="1664208"/>
            <a:ext cx="2081174" cy="713232"/>
          </a:xfrm>
          <a:prstGeom prst="roundRect">
            <a:avLst>
              <a:gd name="adj" fmla="val 10256"/>
            </a:avLst>
          </a:prstGeom>
          <a:solidFill>
            <a:srgbClr val="EAECF6"/>
          </a:solidFill>
          <a:ln/>
        </p:spPr>
      </p:sp>
      <p:pic>
        <p:nvPicPr>
          <p:cNvPr id="9" name="Image 1" descr="/home/claude/depoindex_ppt/icons/tf_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834" y="175564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49270" y="2048256"/>
            <a:ext cx="19714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number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040173" y="1664208"/>
            <a:ext cx="2081174" cy="713232"/>
          </a:xfrm>
          <a:prstGeom prst="roundRect">
            <a:avLst>
              <a:gd name="adj" fmla="val 10256"/>
            </a:avLst>
          </a:prstGeom>
          <a:solidFill>
            <a:srgbClr val="EAECF6"/>
          </a:solidFill>
          <a:ln/>
        </p:spPr>
      </p:sp>
      <p:pic>
        <p:nvPicPr>
          <p:cNvPr id="12" name="Image 2" descr="/home/claude/depoindex_ppt/icons/tf_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75564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95037" y="2048256"/>
            <a:ext cx="19714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range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7285939" y="1664208"/>
            <a:ext cx="2081174" cy="713232"/>
          </a:xfrm>
          <a:prstGeom prst="roundRect">
            <a:avLst>
              <a:gd name="adj" fmla="val 10256"/>
            </a:avLst>
          </a:prstGeom>
          <a:solidFill>
            <a:srgbClr val="EAECF6"/>
          </a:solidFill>
          <a:ln/>
        </p:spPr>
      </p:sp>
      <p:pic>
        <p:nvPicPr>
          <p:cNvPr id="15" name="Image 3" descr="/home/claude/depoindex_ppt/icons/tf_chu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9366" y="175564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340803" y="2048256"/>
            <a:ext cx="19714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9531706" y="1664208"/>
            <a:ext cx="2081174" cy="713232"/>
          </a:xfrm>
          <a:prstGeom prst="roundRect">
            <a:avLst>
              <a:gd name="adj" fmla="val 10256"/>
            </a:avLst>
          </a:prstGeom>
          <a:solidFill>
            <a:srgbClr val="EAECF6"/>
          </a:solidFill>
          <a:ln/>
        </p:spPr>
      </p:sp>
      <p:pic>
        <p:nvPicPr>
          <p:cNvPr id="18" name="Image 4" descr="/home/claude/depoindex_ppt/icons/tf_posi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5133" y="175564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586570" y="2048256"/>
            <a:ext cx="19714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position</a:t>
            </a:r>
            <a:endParaRPr lang="en-US" sz="105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OUTPUTS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48640" y="2926080"/>
            <a:ext cx="35356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94944" y="309524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5" descr="/home/claude/depoindex_ppt/icons/out_js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3232404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353312" y="3044952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topic_index.json</a:t>
            </a:r>
            <a:endParaRPr lang="en-US" sz="1150" dirty="0"/>
          </a:p>
        </p:txBody>
      </p:sp>
      <p:sp>
        <p:nvSpPr>
          <p:cNvPr id="25" name="Text 17"/>
          <p:cNvSpPr txBox="1"/>
          <p:nvPr/>
        </p:nvSpPr>
        <p:spPr>
          <a:xfrm>
            <a:off x="1353312" y="3383280"/>
            <a:ext cx="262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index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4312920" y="2926080"/>
            <a:ext cx="35356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59224" y="309524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6" descr="/home/claude/depoindex_ppt/icons/out_m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6384" y="3232404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117592" y="3044952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topic_index_report.md</a:t>
            </a:r>
            <a:endParaRPr lang="en-US" sz="1150" dirty="0"/>
          </a:p>
        </p:txBody>
      </p:sp>
      <p:sp>
        <p:nvSpPr>
          <p:cNvPr id="30" name="Text 21"/>
          <p:cNvSpPr txBox="1"/>
          <p:nvPr/>
        </p:nvSpPr>
        <p:spPr>
          <a:xfrm>
            <a:off x="5117592" y="3383280"/>
            <a:ext cx="262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Attorney-facing report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8077200" y="2926080"/>
            <a:ext cx="35356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8223504" y="309524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7" descr="/home/claude/depoindex_ppt/icons/out_v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0664" y="3232404"/>
            <a:ext cx="256032" cy="25603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8881872" y="3044952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validation_report.md</a:t>
            </a:r>
            <a:endParaRPr lang="en-US" sz="1150" dirty="0"/>
          </a:p>
        </p:txBody>
      </p:sp>
      <p:sp>
        <p:nvSpPr>
          <p:cNvPr id="35" name="Text 25"/>
          <p:cNvSpPr txBox="1"/>
          <p:nvPr/>
        </p:nvSpPr>
        <p:spPr>
          <a:xfrm>
            <a:off x="8881872" y="3383280"/>
            <a:ext cx="262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stability results</a:t>
            </a:r>
            <a:endParaRPr lang="en-US" sz="1050" dirty="0"/>
          </a:p>
        </p:txBody>
      </p:sp>
      <p:sp>
        <p:nvSpPr>
          <p:cNvPr id="36" name="Text 26"/>
          <p:cNvSpPr txBox="1"/>
          <p:nvPr/>
        </p:nvSpPr>
        <p:spPr>
          <a:xfrm>
            <a:off x="548640" y="4041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548640" y="4370832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5F8FA"/>
          </a:solidFill>
          <a:ln/>
        </p:spPr>
      </p:sp>
      <p:pic>
        <p:nvPicPr>
          <p:cNvPr id="38" name="Image 8" descr="/home/claude/depoindex_ppt/icons/val_run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572000"/>
            <a:ext cx="365760" cy="36576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261872" y="45537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Independent Pipeline Runs</a:t>
            </a:r>
            <a:endParaRPr lang="en-US" sz="1300" dirty="0"/>
          </a:p>
        </p:txBody>
      </p:sp>
      <p:sp>
        <p:nvSpPr>
          <p:cNvPr id="40" name="Text 29"/>
          <p:cNvSpPr txBox="1"/>
          <p:nvPr/>
        </p:nvSpPr>
        <p:spPr>
          <a:xfrm>
            <a:off x="777240" y="4956048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topic ordering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topic boundaries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provenance consistency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unexpected variations</a:t>
            </a:r>
            <a:endParaRPr lang="en-US" sz="1100" dirty="0"/>
          </a:p>
        </p:txBody>
      </p:sp>
      <p:sp>
        <p:nvSpPr>
          <p:cNvPr id="41" name="Shape 30"/>
          <p:cNvSpPr/>
          <p:nvPr/>
        </p:nvSpPr>
        <p:spPr>
          <a:xfrm>
            <a:off x="6217920" y="4370832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5F8FA"/>
          </a:solidFill>
          <a:ln/>
        </p:spPr>
      </p:sp>
      <p:pic>
        <p:nvPicPr>
          <p:cNvPr id="42" name="Image 9" descr="/home/claude/depoindex_ppt/icons/val_manu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4572000"/>
            <a:ext cx="365760" cy="36576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6931152" y="45537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20-Entry Manual Evaluation</a:t>
            </a:r>
            <a:endParaRPr lang="en-US" sz="1300" dirty="0"/>
          </a:p>
        </p:txBody>
      </p:sp>
      <p:sp>
        <p:nvSpPr>
          <p:cNvPr id="44" name="Text 32"/>
          <p:cNvSpPr txBox="1"/>
          <p:nvPr/>
        </p:nvSpPr>
        <p:spPr>
          <a:xfrm>
            <a:off x="6446520" y="4956048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correctness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ordering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accuracy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quality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100" dirty="0"/>
          </a:p>
        </p:txBody>
      </p:sp>
      <p:pic>
        <p:nvPicPr>
          <p:cNvPr id="45" name="Image 10" descr="/home/claude/depoindex_ppt/icons/val_go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6108192"/>
            <a:ext cx="237744" cy="237744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868680" y="60624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verifiable indexing rather than a black-box output.</a:t>
            </a:r>
            <a:endParaRPr lang="en-US" sz="1150" dirty="0"/>
          </a:p>
        </p:txBody>
      </p:sp>
      <p:sp>
        <p:nvSpPr>
          <p:cNvPr id="47" name="Text 3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DepoIndex — Docu3C Technical Assessment, Problem #3</a:t>
            </a:r>
            <a:endParaRPr lang="en-US" sz="900" dirty="0"/>
          </a:p>
        </p:txBody>
      </p:sp>
      <p:sp>
        <p:nvSpPr>
          <p:cNvPr id="48" name="Text 3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KEY TAKEAWAY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6751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DepoIndex Web Application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depoindex_ppt/icons/dm_live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7556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8288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docu3c-depo-index-engine-bjzced7zrqycdzwnlu3hec.streamlit.app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670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017520"/>
            <a:ext cx="1737360" cy="1417320"/>
          </a:xfrm>
          <a:prstGeom prst="roundRect">
            <a:avLst>
              <a:gd name="adj" fmla="val 5806"/>
            </a:avLst>
          </a:prstGeom>
          <a:solidFill>
            <a:srgbClr val="F5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1124712" y="318211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depoindex_ppt/icons/dm_up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332841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21792" y="3858768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Process Deposition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280160" y="288036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28016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 rot="5400000">
            <a:off x="2340864" y="3470148"/>
            <a:ext cx="164592" cy="118872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17" name="Shape 13"/>
          <p:cNvSpPr/>
          <p:nvPr/>
        </p:nvSpPr>
        <p:spPr>
          <a:xfrm>
            <a:off x="2560320" y="3017520"/>
            <a:ext cx="1737360" cy="1417320"/>
          </a:xfrm>
          <a:prstGeom prst="roundRect">
            <a:avLst>
              <a:gd name="adj" fmla="val 5806"/>
            </a:avLst>
          </a:prstGeom>
          <a:solidFill>
            <a:srgbClr val="F5F8FA"/>
          </a:solidFill>
          <a:ln/>
        </p:spPr>
      </p:sp>
      <p:sp>
        <p:nvSpPr>
          <p:cNvPr id="18" name="Shape 14"/>
          <p:cNvSpPr/>
          <p:nvPr/>
        </p:nvSpPr>
        <p:spPr>
          <a:xfrm>
            <a:off x="3136392" y="318211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/home/claude/depoindex_ppt/icons/dm_extra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96" y="3328416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633472" y="3858768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Index Transcript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91840" y="288036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329184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 rot="5400000">
            <a:off x="4352544" y="3470148"/>
            <a:ext cx="164592" cy="118872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24" name="Shape 19"/>
          <p:cNvSpPr/>
          <p:nvPr/>
        </p:nvSpPr>
        <p:spPr>
          <a:xfrm>
            <a:off x="4572000" y="3017520"/>
            <a:ext cx="1737360" cy="1417320"/>
          </a:xfrm>
          <a:prstGeom prst="roundRect">
            <a:avLst>
              <a:gd name="adj" fmla="val 5806"/>
            </a:avLst>
          </a:prstGeom>
          <a:solidFill>
            <a:srgbClr val="F5F8FA"/>
          </a:solidFill>
          <a:ln/>
        </p:spPr>
      </p:sp>
      <p:sp>
        <p:nvSpPr>
          <p:cNvPr id="25" name="Shape 20"/>
          <p:cNvSpPr/>
          <p:nvPr/>
        </p:nvSpPr>
        <p:spPr>
          <a:xfrm>
            <a:off x="5148072" y="318211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3" descr="/home/claude/depoindex_ppt/icons/dm_gene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376" y="3328416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645152" y="3858768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Topic Index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303520" y="288036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530352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 rot="5400000">
            <a:off x="6364224" y="3470148"/>
            <a:ext cx="164592" cy="118872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31" name="Shape 25"/>
          <p:cNvSpPr/>
          <p:nvPr/>
        </p:nvSpPr>
        <p:spPr>
          <a:xfrm>
            <a:off x="6583680" y="3017520"/>
            <a:ext cx="1737360" cy="1417320"/>
          </a:xfrm>
          <a:prstGeom prst="roundRect">
            <a:avLst>
              <a:gd name="adj" fmla="val 5806"/>
            </a:avLst>
          </a:prstGeom>
          <a:solidFill>
            <a:srgbClr val="F5F8FA"/>
          </a:solidFill>
          <a:ln/>
        </p:spPr>
      </p:sp>
      <p:sp>
        <p:nvSpPr>
          <p:cNvPr id="32" name="Shape 26"/>
          <p:cNvSpPr/>
          <p:nvPr/>
        </p:nvSpPr>
        <p:spPr>
          <a:xfrm>
            <a:off x="7159752" y="318211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4" descr="/home/claude/depoindex_ppt/icons/dm_inspec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56" y="3328416"/>
            <a:ext cx="292608" cy="29260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656832" y="3858768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Source Provenance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7315200" y="288036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731520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 rot="5400000">
            <a:off x="8375904" y="3470148"/>
            <a:ext cx="164592" cy="118872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38" name="Shape 31"/>
          <p:cNvSpPr/>
          <p:nvPr/>
        </p:nvSpPr>
        <p:spPr>
          <a:xfrm>
            <a:off x="8595360" y="3017520"/>
            <a:ext cx="1737360" cy="1417320"/>
          </a:xfrm>
          <a:prstGeom prst="roundRect">
            <a:avLst>
              <a:gd name="adj" fmla="val 5806"/>
            </a:avLst>
          </a:prstGeom>
          <a:solidFill>
            <a:srgbClr val="F5F8FA"/>
          </a:solidFill>
          <a:ln/>
        </p:spPr>
      </p:sp>
      <p:sp>
        <p:nvSpPr>
          <p:cNvPr id="39" name="Shape 32"/>
          <p:cNvSpPr/>
          <p:nvPr/>
        </p:nvSpPr>
        <p:spPr>
          <a:xfrm>
            <a:off x="9171432" y="318211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0" name="Image 5" descr="/home/claude/depoindex_ppt/icons/dm_expo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736" y="3328416"/>
            <a:ext cx="292608" cy="292608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668512" y="3858768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Results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9326880" y="288036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932688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548640" y="4828032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E4F0F3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548640" y="4937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Chronological</a:t>
            </a:r>
            <a:pPr algn="ctr" indent="0" marL="0">
              <a:buNone/>
            </a:pPr>
            <a:r>
              <a:rPr lang="en-US" sz="21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</a:t>
            </a:r>
            <a:pPr algn="ctr" indent="0" marL="0">
              <a:buNone/>
            </a:pPr>
            <a:r>
              <a:rPr lang="en-US" sz="21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Searchable</a:t>
            </a:r>
            <a:pPr algn="ctr" indent="0" marL="0">
              <a:buNone/>
            </a:pPr>
            <a:r>
              <a:rPr lang="en-US" sz="21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</a:t>
            </a:r>
            <a:endParaRPr lang="en-US" sz="2100" dirty="0"/>
          </a:p>
        </p:txBody>
      </p:sp>
      <p:sp>
        <p:nvSpPr>
          <p:cNvPr id="46" name="Text 38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DepoIndex converts lengthy legal testimony into an indexed, verifiable structure — while maintaining a local-first architecture and automated stability/validation testing.</a:t>
            </a:r>
            <a:endParaRPr lang="en-US" sz="1150" dirty="0"/>
          </a:p>
        </p:txBody>
      </p:sp>
      <p:sp>
        <p:nvSpPr>
          <p:cNvPr id="47" name="Text 39"/>
          <p:cNvSpPr txBox="1"/>
          <p:nvPr/>
        </p:nvSpPr>
        <p:spPr>
          <a:xfrm>
            <a:off x="548640" y="6144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8" name="Text 40"/>
          <p:cNvSpPr txBox="1"/>
          <p:nvPr/>
        </p:nvSpPr>
        <p:spPr>
          <a:xfrm>
            <a:off x="6126480" y="61996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Anurag Thakur  ·  Docu3C Technical Assessment — Problem #3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2026-09-13T13:17:33Z</dcterms:created>
  <dcterms:modified xsi:type="dcterms:W3CDTF">2026-09-13T13:17:33Z</dcterms:modified>
</cp:coreProperties>
</file>